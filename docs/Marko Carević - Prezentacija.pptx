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748F6B-23E0-D912-FA82-E418AC841026}" v="77" dt="2026-07-21T16:59:57.404"/>
    <p1510:client id="{719752D6-F12C-E05A-0B86-52213CC9B662}" v="4" dt="2026-07-21T16:53:00.278"/>
    <p1510:client id="{F566BED4-371F-B2CA-C6E5-B4ABC29BB5DE}" v="41" dt="2026-07-21T16:51:52.5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51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525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3384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005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093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209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713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292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41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74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7871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232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30DD7D3-2712-4491-B2C2-5FC23330C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569" y="1066800"/>
            <a:ext cx="5128322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5DF783C0-49DF-117B-04BE-690EE7157A53}"/>
              </a:ext>
            </a:extLst>
          </p:cNvPr>
          <p:cNvSpPr/>
          <p:nvPr/>
        </p:nvSpPr>
        <p:spPr>
          <a:xfrm>
            <a:off x="745486" y="1144917"/>
            <a:ext cx="4359744" cy="27385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</a:pPr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Prilagodba sučelja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</a:pPr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Millennium OS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55D7A345-EA7E-E35E-5C3A-DE858E6A27AE}"/>
              </a:ext>
            </a:extLst>
          </p:cNvPr>
          <p:cNvSpPr/>
          <p:nvPr/>
        </p:nvSpPr>
        <p:spPr>
          <a:xfrm>
            <a:off x="436262" y="4688016"/>
            <a:ext cx="4358208" cy="9337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1000"/>
              </a:spcBef>
              <a:buSzPct val="87000"/>
            </a:pPr>
            <a:r>
              <a:rPr lang="en-US" b="1" cap="all" spc="300"/>
              <a:t>DIPLOMSKI RAD  ·  2026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D0734C-004D-4938-8EA0-2C3867A1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37" y="5780876"/>
            <a:ext cx="5131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1">
            <a:extLst>
              <a:ext uri="{FF2B5EF4-FFF2-40B4-BE49-F238E27FC236}">
                <a16:creationId xmlns:a16="http://schemas.microsoft.com/office/drawing/2014/main" id="{D86C18AD-6B82-F354-9569-F9128F44B071}"/>
              </a:ext>
            </a:extLst>
          </p:cNvPr>
          <p:cNvSpPr/>
          <p:nvPr/>
        </p:nvSpPr>
        <p:spPr>
          <a:xfrm>
            <a:off x="5333695" y="5486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600"/>
              </a:spcAft>
              <a:buNone/>
            </a:pPr>
            <a:r>
              <a:rPr lang="en-US" sz="1200" kern="0" spc="2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FAKULTET INFORMATIKE U PULI</a:t>
            </a:r>
            <a:endParaRPr lang="en-US" sz="120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4372327-043E-F125-3552-CC0F7D6CDA64}"/>
              </a:ext>
            </a:extLst>
          </p:cNvPr>
          <p:cNvSpPr/>
          <p:nvPr/>
        </p:nvSpPr>
        <p:spPr>
          <a:xfrm>
            <a:off x="533655" y="4197726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Razvoj custom post procesora za HSMWorks Ultimate</a:t>
            </a:r>
            <a:endParaRPr lang="en-US" sz="180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prilagodba MillenniumOS DWC plugina</a:t>
            </a:r>
            <a:endParaRPr lang="en-US" sz="180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34EC6F5-58BA-7FEB-4AB5-0B70C33A4C0F}"/>
              </a:ext>
            </a:extLst>
          </p:cNvPr>
          <p:cNvSpPr/>
          <p:nvPr/>
        </p:nvSpPr>
        <p:spPr>
          <a:xfrm>
            <a:off x="64008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Marko Carević  ·  Mentor: doc. dr. sc. Sandi Baressi Šegota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001B223B-E900-7805-47C5-AD0471499A14}"/>
              </a:ext>
            </a:extLst>
          </p:cNvPr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kern="0" spc="3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UVOD</a:t>
            </a:r>
            <a:endParaRPr lang="en-US" sz="11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9519924-AA78-7FF0-9A47-FCD5C7824A02}"/>
              </a:ext>
            </a:extLst>
          </p:cNvPr>
          <p:cNvSpPr/>
          <p:nvPr/>
        </p:nvSpPr>
        <p:spPr>
          <a:xfrm>
            <a:off x="6202375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Zašto je rad nastao</a:t>
            </a:r>
            <a:endParaRPr lang="en-US" sz="11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EA85B738-FD30-B96D-9619-124F5B538800}"/>
              </a:ext>
            </a:extLst>
          </p:cNvPr>
          <p:cNvSpPr/>
          <p:nvPr/>
        </p:nvSpPr>
        <p:spPr>
          <a:xfrm>
            <a:off x="502920" y="731520"/>
            <a:ext cx="11185855" cy="0"/>
          </a:xfrm>
          <a:prstGeom prst="line">
            <a:avLst/>
          </a:prstGeom>
          <a:noFill/>
          <a:ln w="6350">
            <a:solidFill>
              <a:srgbClr val="C8C0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C5A6F94-5DC1-2625-2879-8D514BAA16A9}"/>
              </a:ext>
            </a:extLst>
          </p:cNvPr>
          <p:cNvSpPr/>
          <p:nvPr/>
        </p:nvSpPr>
        <p:spPr>
          <a:xfrm>
            <a:off x="64008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Dva povezana problema</a:t>
            </a:r>
            <a:endParaRPr lang="en-US" sz="28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073506C-D156-71E4-AA31-EC6A9D0ADB42}"/>
              </a:ext>
            </a:extLst>
          </p:cNvPr>
          <p:cNvSpPr/>
          <p:nvPr/>
        </p:nvSpPr>
        <p:spPr>
          <a:xfrm>
            <a:off x="914400" y="2423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procesor</a:t>
            </a:r>
            <a:endParaRPr lang="en-US" sz="2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4EBD6D7-54F9-3EBD-58CE-4099FEEA04BA}"/>
              </a:ext>
            </a:extLst>
          </p:cNvPr>
          <p:cNvSpPr/>
          <p:nvPr/>
        </p:nvSpPr>
        <p:spPr>
          <a:xfrm>
            <a:off x="914400" y="301752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Službeni post procesor za MillenniumOS postoji samo za Fusion 360. U HSMWorks Ultimate dolazi do grešaka kompatibilnosti zbog razlika u verziji post enginea. Korisnici SolidWorks okruženja nisu mogli generirati ispravan G-kod.</a:t>
            </a:r>
            <a:endParaRPr lang="en-US" sz="15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6C2049A-4728-B022-5F57-4B59B772378E}"/>
              </a:ext>
            </a:extLst>
          </p:cNvPr>
          <p:cNvSpPr/>
          <p:nvPr/>
        </p:nvSpPr>
        <p:spPr>
          <a:xfrm>
            <a:off x="6492240" y="2423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Probing sučelje</a:t>
            </a:r>
            <a:endParaRPr lang="en-US" sz="2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5BC351C-5B3B-B60D-4DFD-1B4259F51E2A}"/>
              </a:ext>
            </a:extLst>
          </p:cNvPr>
          <p:cNvSpPr/>
          <p:nvPr/>
        </p:nvSpPr>
        <p:spPr>
          <a:xfrm>
            <a:off x="6492240" y="301752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Originalno sučelje koristi generičke Material Design ikone. One ne prikazuju jasno geometriju operacija. Na touch screen tabletima polja za unos brojeva bila su premala i nečitljiva.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27085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0D6D07FE-4929-B10A-9869-6B35652E1A4D}"/>
              </a:ext>
            </a:extLst>
          </p:cNvPr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kern="0" spc="3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CILJEVI RADA</a:t>
            </a: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D4B6C78-6CA1-2E11-F77E-A506842E90BF}"/>
              </a:ext>
            </a:extLst>
          </p:cNvPr>
          <p:cNvSpPr/>
          <p:nvPr/>
        </p:nvSpPr>
        <p:spPr>
          <a:xfrm>
            <a:off x="6202375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Što je trebalo postići</a:t>
            </a:r>
            <a:endParaRPr lang="en-US" sz="11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A7D112E5-21B6-BBAE-DAA2-EAFE982BEDB2}"/>
              </a:ext>
            </a:extLst>
          </p:cNvPr>
          <p:cNvSpPr/>
          <p:nvPr/>
        </p:nvSpPr>
        <p:spPr>
          <a:xfrm>
            <a:off x="502920" y="731520"/>
            <a:ext cx="11185855" cy="0"/>
          </a:xfrm>
          <a:prstGeom prst="line">
            <a:avLst/>
          </a:prstGeom>
          <a:noFill/>
          <a:ln w="6350">
            <a:solidFill>
              <a:srgbClr val="C8C0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8E39625-53B2-A9BF-A1A5-2BD7D28E3B79}"/>
              </a:ext>
            </a:extLst>
          </p:cNvPr>
          <p:cNvSpPr/>
          <p:nvPr/>
        </p:nvSpPr>
        <p:spPr>
          <a:xfrm>
            <a:off x="64008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Dvostruki cilj rada</a:t>
            </a:r>
            <a:endParaRPr lang="en-US" sz="2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9DD74BF-89D1-A40C-AF61-9768436C7F68}"/>
              </a:ext>
            </a:extLst>
          </p:cNvPr>
          <p:cNvSpPr/>
          <p:nvPr/>
        </p:nvSpPr>
        <p:spPr>
          <a:xfrm>
            <a:off x="1051560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Razviti custom post procesor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2303624-813C-8B2D-3B50-DA7639F4AB63}"/>
              </a:ext>
            </a:extLst>
          </p:cNvPr>
          <p:cNvSpPr/>
          <p:nvPr/>
        </p:nvSpPr>
        <p:spPr>
          <a:xfrm>
            <a:off x="1051560" y="22128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Omogućiti pouzdano generiranje G-koda iz HSMWorks Ultimate za MillenniumOS</a:t>
            </a:r>
            <a:endParaRPr lang="en-US" sz="15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902EB05A-24B2-D848-B2F7-1027BE84E9DD}"/>
              </a:ext>
            </a:extLst>
          </p:cNvPr>
          <p:cNvSpPr/>
          <p:nvPr/>
        </p:nvSpPr>
        <p:spPr>
          <a:xfrm>
            <a:off x="1051560" y="2926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Prilagoditi DWC plugin</a:t>
            </a:r>
            <a:endParaRPr lang="en-US" sz="18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E0C27455-2F24-7EAB-D2E9-19F5A4EAE920}"/>
              </a:ext>
            </a:extLst>
          </p:cNvPr>
          <p:cNvSpPr/>
          <p:nvPr/>
        </p:nvSpPr>
        <p:spPr>
          <a:xfrm>
            <a:off x="1051560" y="32644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Uvesti custom slike na probing kartice radi bolje vizualne prepoznatljivosti</a:t>
            </a:r>
            <a:endParaRPr lang="en-US" sz="1500" dirty="0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573CB948-D847-B8B1-A35F-48B8FA54B7F6}"/>
              </a:ext>
            </a:extLst>
          </p:cNvPr>
          <p:cNvSpPr/>
          <p:nvPr/>
        </p:nvSpPr>
        <p:spPr>
          <a:xfrm>
            <a:off x="1051560" y="3977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Objaviti kao open source</a:t>
            </a:r>
            <a:endParaRPr lang="en-US" sz="18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7824D800-3206-864D-3402-261DE6354840}"/>
              </a:ext>
            </a:extLst>
          </p:cNvPr>
          <p:cNvSpPr/>
          <p:nvPr/>
        </p:nvSpPr>
        <p:spPr>
          <a:xfrm>
            <a:off x="1051560" y="43159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Rješenja učiniti dostupnima cijeloj zajednici korisnika Millennium Machines</a:t>
            </a:r>
            <a:endParaRPr lang="en-US" sz="1500" dirty="0"/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E33D0C6D-F4B2-2CAF-2F03-0A7AFC8E9B22}"/>
              </a:ext>
            </a:extLst>
          </p:cNvPr>
          <p:cNvSpPr/>
          <p:nvPr/>
        </p:nvSpPr>
        <p:spPr>
          <a:xfrm>
            <a:off x="1051560" y="5029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Testirati na stvarnom stroju</a:t>
            </a:r>
            <a:endParaRPr lang="en-US" sz="1800" dirty="0"/>
          </a:p>
        </p:txBody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1575C127-EEFD-B954-F8A5-CA3E6067D63A}"/>
              </a:ext>
            </a:extLst>
          </p:cNvPr>
          <p:cNvSpPr/>
          <p:nvPr/>
        </p:nvSpPr>
        <p:spPr>
          <a:xfrm>
            <a:off x="1051560" y="53675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Verificirati stabilnost na Milo v1.5 s MillenniumOS-om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61970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A2FCA95E-DDC1-F32C-EEE3-8798A6F278C0}"/>
              </a:ext>
            </a:extLst>
          </p:cNvPr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kern="0" spc="3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STROJ</a:t>
            </a: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1B7519E-788A-8A59-92C0-B90744898CE1}"/>
              </a:ext>
            </a:extLst>
          </p:cNvPr>
          <p:cNvSpPr/>
          <p:nvPr/>
        </p:nvSpPr>
        <p:spPr>
          <a:xfrm>
            <a:off x="6202375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Millennium Machines Milo v1.5</a:t>
            </a:r>
            <a:endParaRPr lang="en-US" sz="11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776864C9-5AB9-03F4-6BFC-E5F266474C06}"/>
              </a:ext>
            </a:extLst>
          </p:cNvPr>
          <p:cNvSpPr/>
          <p:nvPr/>
        </p:nvSpPr>
        <p:spPr>
          <a:xfrm>
            <a:off x="502920" y="731520"/>
            <a:ext cx="11185855" cy="0"/>
          </a:xfrm>
          <a:prstGeom prst="line">
            <a:avLst/>
          </a:prstGeom>
          <a:noFill/>
          <a:ln w="6350">
            <a:solidFill>
              <a:srgbClr val="C8C0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7DA81C8-15FF-9091-671A-40C13C65C7C6}"/>
              </a:ext>
            </a:extLst>
          </p:cNvPr>
          <p:cNvSpPr/>
          <p:nvPr/>
        </p:nvSpPr>
        <p:spPr>
          <a:xfrm>
            <a:off x="64008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Open-source desktop CNC glodalica</a:t>
            </a:r>
            <a:endParaRPr lang="en-US" sz="28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543B2AB-DBC1-AE63-E494-9FBB468A8391}"/>
              </a:ext>
            </a:extLst>
          </p:cNvPr>
          <p:cNvSpPr/>
          <p:nvPr/>
        </p:nvSpPr>
        <p:spPr>
          <a:xfrm>
            <a:off x="64008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B84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Namjena</a:t>
            </a:r>
            <a:endParaRPr lang="en-US" sz="15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AA9098A-78A2-CDC5-C669-0268A312C1E0}"/>
              </a:ext>
            </a:extLst>
          </p:cNvPr>
          <p:cNvSpPr/>
          <p:nvPr/>
        </p:nvSpPr>
        <p:spPr>
          <a:xfrm>
            <a:off x="329184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Precizna obrada aluminija i mekih metala u desktop formatu</a:t>
            </a:r>
            <a:endParaRPr lang="en-US" sz="16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8E7E7915-DFF4-9A94-165B-461067D63AC3}"/>
              </a:ext>
            </a:extLst>
          </p:cNvPr>
          <p:cNvSpPr/>
          <p:nvPr/>
        </p:nvSpPr>
        <p:spPr>
          <a:xfrm>
            <a:off x="640080" y="2468880"/>
            <a:ext cx="10881360" cy="0"/>
          </a:xfrm>
          <a:prstGeom prst="line">
            <a:avLst/>
          </a:prstGeom>
          <a:noFill/>
          <a:ln w="6350">
            <a:solidFill>
              <a:srgbClr val="C8C0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85D10E0-2DDC-056E-2EC6-2587157C057B}"/>
              </a:ext>
            </a:extLst>
          </p:cNvPr>
          <p:cNvSpPr/>
          <p:nvPr/>
        </p:nvSpPr>
        <p:spPr>
          <a:xfrm>
            <a:off x="640080" y="2560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B84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Firmware</a:t>
            </a:r>
            <a:endParaRPr lang="en-US" sz="15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75226E7-26D4-F56D-AF33-53051AD3554D}"/>
              </a:ext>
            </a:extLst>
          </p:cNvPr>
          <p:cNvSpPr/>
          <p:nvPr/>
        </p:nvSpPr>
        <p:spPr>
          <a:xfrm>
            <a:off x="3291840" y="2560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MillenniumOS baziran na RepRapFirmwareu</a:t>
            </a:r>
            <a:endParaRPr lang="en-US" sz="16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E940EF43-4B0A-C54D-D4BF-8490638E013E}"/>
              </a:ext>
            </a:extLst>
          </p:cNvPr>
          <p:cNvSpPr/>
          <p:nvPr/>
        </p:nvSpPr>
        <p:spPr>
          <a:xfrm>
            <a:off x="640080" y="3291840"/>
            <a:ext cx="10881360" cy="0"/>
          </a:xfrm>
          <a:prstGeom prst="line">
            <a:avLst/>
          </a:prstGeom>
          <a:noFill/>
          <a:ln w="6350">
            <a:solidFill>
              <a:srgbClr val="C8C0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F04A506F-5476-4DAB-BB8A-7AF0326561F6}"/>
              </a:ext>
            </a:extLst>
          </p:cNvPr>
          <p:cNvSpPr/>
          <p:nvPr/>
        </p:nvSpPr>
        <p:spPr>
          <a:xfrm>
            <a:off x="640080" y="3383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B84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Kontroler</a:t>
            </a:r>
            <a:endParaRPr lang="en-US" sz="15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8E7AE2EF-1AA4-B1A3-056F-9A60012C92AE}"/>
              </a:ext>
            </a:extLst>
          </p:cNvPr>
          <p:cNvSpPr/>
          <p:nvPr/>
        </p:nvSpPr>
        <p:spPr>
          <a:xfrm>
            <a:off x="3291840" y="3383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RepRapFirmware + Duet Web Control</a:t>
            </a:r>
            <a:endParaRPr lang="en-US" sz="16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FA67DFC8-C929-D93C-3BAC-B3F452C5A2F4}"/>
              </a:ext>
            </a:extLst>
          </p:cNvPr>
          <p:cNvSpPr/>
          <p:nvPr/>
        </p:nvSpPr>
        <p:spPr>
          <a:xfrm>
            <a:off x="640080" y="4114800"/>
            <a:ext cx="10881360" cy="0"/>
          </a:xfrm>
          <a:prstGeom prst="line">
            <a:avLst/>
          </a:prstGeom>
          <a:noFill/>
          <a:ln w="6350">
            <a:solidFill>
              <a:srgbClr val="C8C0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BB2125F1-563F-3826-F256-4039F109585B}"/>
              </a:ext>
            </a:extLst>
          </p:cNvPr>
          <p:cNvSpPr/>
          <p:nvPr/>
        </p:nvSpPr>
        <p:spPr>
          <a:xfrm>
            <a:off x="640080" y="4206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B84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Ciljna skupina</a:t>
            </a:r>
            <a:endParaRPr lang="en-US" sz="15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ACF3219F-BF3C-1AA3-9EBE-0A53A05B7569}"/>
              </a:ext>
            </a:extLst>
          </p:cNvPr>
          <p:cNvSpPr/>
          <p:nvPr/>
        </p:nvSpPr>
        <p:spPr>
          <a:xfrm>
            <a:off x="3291840" y="4206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Hobijisti, studenti, male radionice, obrazovne ustanove</a:t>
            </a:r>
            <a:endParaRPr lang="en-US" sz="1600" dirty="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01917382-67E7-9103-7D3A-55B16DC36F5E}"/>
              </a:ext>
            </a:extLst>
          </p:cNvPr>
          <p:cNvSpPr/>
          <p:nvPr/>
        </p:nvSpPr>
        <p:spPr>
          <a:xfrm>
            <a:off x="640080" y="4937760"/>
            <a:ext cx="10881360" cy="0"/>
          </a:xfrm>
          <a:prstGeom prst="line">
            <a:avLst/>
          </a:prstGeom>
          <a:noFill/>
          <a:ln w="6350">
            <a:solidFill>
              <a:srgbClr val="C8C0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BD9109A7-2966-B626-E443-59C6A04F4E72}"/>
              </a:ext>
            </a:extLst>
          </p:cNvPr>
          <p:cNvSpPr/>
          <p:nvPr/>
        </p:nvSpPr>
        <p:spPr>
          <a:xfrm>
            <a:off x="640080" y="5029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B84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Prednost</a:t>
            </a:r>
            <a:endParaRPr lang="en-US" sz="15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E6136CD9-C3A3-5620-F5F3-7318C0412A10}"/>
              </a:ext>
            </a:extLst>
          </p:cNvPr>
          <p:cNvSpPr/>
          <p:nvPr/>
        </p:nvSpPr>
        <p:spPr>
          <a:xfrm>
            <a:off x="3291840" y="5029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Niska cijena, modularnost, potpuno otvoren hardver i softver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5932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4F8518E-DA93-DC92-7BA0-35EDF96034C8}"/>
              </a:ext>
            </a:extLst>
          </p:cNvPr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kern="0" spc="3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MILLENNIUMOS</a:t>
            </a: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CF761EA-0C7D-78EB-B67F-757A8AAC32B1}"/>
              </a:ext>
            </a:extLst>
          </p:cNvPr>
          <p:cNvSpPr/>
          <p:nvPr/>
        </p:nvSpPr>
        <p:spPr>
          <a:xfrm>
            <a:off x="6202375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System za RRF</a:t>
            </a:r>
            <a:endParaRPr lang="en-US" sz="11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9CF1943E-A399-0606-1B8F-7766739E625A}"/>
              </a:ext>
            </a:extLst>
          </p:cNvPr>
          <p:cNvSpPr/>
          <p:nvPr/>
        </p:nvSpPr>
        <p:spPr>
          <a:xfrm>
            <a:off x="502920" y="731520"/>
            <a:ext cx="11185855" cy="0"/>
          </a:xfrm>
          <a:prstGeom prst="line">
            <a:avLst/>
          </a:prstGeom>
          <a:noFill/>
          <a:ln w="6350">
            <a:solidFill>
              <a:srgbClr val="C8C0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B83D3AA-2A1D-2FA8-017F-E6713C17DB73}"/>
              </a:ext>
            </a:extLst>
          </p:cNvPr>
          <p:cNvSpPr/>
          <p:nvPr/>
        </p:nvSpPr>
        <p:spPr>
          <a:xfrm>
            <a:off x="640080" y="1051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Što je MillenniumOS</a:t>
            </a:r>
            <a:endParaRPr lang="en-US" sz="28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D577212-0896-22A9-0334-21B75D166699}"/>
              </a:ext>
            </a:extLst>
          </p:cNvPr>
          <p:cNvSpPr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Dodatni sloj na vrhu RepRapFirmwarea koji dodaje napredne CNC funkcije. Nije klasični operativni sustav – „OS” označava Operations System.</a:t>
            </a:r>
            <a:endParaRPr lang="en-US" sz="1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59E1612-C51A-3CEB-32AF-F5D1BC8EB87A}"/>
              </a:ext>
            </a:extLst>
          </p:cNvPr>
          <p:cNvSpPr/>
          <p:nvPr/>
        </p:nvSpPr>
        <p:spPr>
          <a:xfrm>
            <a:off x="96012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G-kod dijalekt</a:t>
            </a:r>
            <a:endParaRPr lang="en-US" sz="1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DB7BB22-E637-A9C8-15E5-563543171527}"/>
              </a:ext>
            </a:extLst>
          </p:cNvPr>
          <p:cNvSpPr/>
          <p:nvPr/>
        </p:nvSpPr>
        <p:spPr>
          <a:xfrm>
            <a:off x="960120" y="3246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Prilagođene naredbe uključujući M4000 seriju (npr. M4005 za definiciju alata)</a:t>
            </a:r>
            <a:endParaRPr lang="en-US" sz="140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94AE1F60-90E5-38E3-1BB4-88C31907351A}"/>
              </a:ext>
            </a:extLst>
          </p:cNvPr>
          <p:cNvSpPr/>
          <p:nvPr/>
        </p:nvSpPr>
        <p:spPr>
          <a:xfrm>
            <a:off x="96012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procesori</a:t>
            </a:r>
            <a:endParaRPr lang="en-US" sz="1800" dirty="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1E361306-1CAA-1786-26DF-8ADBC5183FD3}"/>
              </a:ext>
            </a:extLst>
          </p:cNvPr>
          <p:cNvSpPr/>
          <p:nvPr/>
        </p:nvSpPr>
        <p:spPr>
          <a:xfrm>
            <a:off x="960120" y="5074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Službeno za Fusion 360, u ovom radu prošireno na HSMWorks</a:t>
            </a:r>
            <a:endParaRPr lang="en-US" sz="14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C04E3839-448A-74AA-3FAD-192603097888}"/>
              </a:ext>
            </a:extLst>
          </p:cNvPr>
          <p:cNvSpPr/>
          <p:nvPr/>
        </p:nvSpPr>
        <p:spPr>
          <a:xfrm>
            <a:off x="662940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DWC plugin</a:t>
            </a:r>
            <a:endParaRPr lang="en-US" sz="1800" dirty="0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EE85BC81-660D-D01F-92A3-B096B4132163}"/>
              </a:ext>
            </a:extLst>
          </p:cNvPr>
          <p:cNvSpPr/>
          <p:nvPr/>
        </p:nvSpPr>
        <p:spPr>
          <a:xfrm>
            <a:off x="6629400" y="5074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sučelje za upravljanje probing operacijama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70156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F23AD44-0500-F6E7-5278-855ACF0F3D4E}"/>
              </a:ext>
            </a:extLst>
          </p:cNvPr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kern="0" spc="3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PROBLEM</a:t>
            </a: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212108C-72EF-FDB8-634F-1D6659F407F2}"/>
              </a:ext>
            </a:extLst>
          </p:cNvPr>
          <p:cNvSpPr/>
          <p:nvPr/>
        </p:nvSpPr>
        <p:spPr>
          <a:xfrm>
            <a:off x="6202375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Kompatibilnost post procesora</a:t>
            </a:r>
            <a:endParaRPr lang="en-US" sz="11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0D0775AD-D124-DEA6-07D6-ABB06D05748F}"/>
              </a:ext>
            </a:extLst>
          </p:cNvPr>
          <p:cNvSpPr/>
          <p:nvPr/>
        </p:nvSpPr>
        <p:spPr>
          <a:xfrm>
            <a:off x="502920" y="731520"/>
            <a:ext cx="11185855" cy="0"/>
          </a:xfrm>
          <a:prstGeom prst="line">
            <a:avLst/>
          </a:prstGeom>
          <a:noFill/>
          <a:ln w="6350">
            <a:solidFill>
              <a:srgbClr val="C8C0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617B6D2-EDEE-127F-9D08-EEA636A526F8}"/>
              </a:ext>
            </a:extLst>
          </p:cNvPr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Zašto službeni post procesor ne radi u HSMWorks</a:t>
            </a:r>
            <a:endParaRPr lang="en-US" sz="2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273BA3C-132E-4260-AB6A-173E80192892}"/>
              </a:ext>
            </a:extLst>
          </p:cNvPr>
          <p:cNvSpPr/>
          <p:nvPr/>
        </p:nvSpPr>
        <p:spPr>
          <a:xfrm>
            <a:off x="1554480" y="1691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Različite verzije enginea</a:t>
            </a:r>
            <a:endParaRPr lang="en-US" sz="17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2102D26-D668-05CD-0A6E-38275EF8D58D}"/>
              </a:ext>
            </a:extLst>
          </p:cNvPr>
          <p:cNvSpPr/>
          <p:nvPr/>
        </p:nvSpPr>
        <p:spPr>
          <a:xfrm>
            <a:off x="1554480" y="2057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360 koristi noviji API, HSMWorks stariji. Funkcije poput createOutputVariable i FORMAT_INTEGER nisu podržane.</a:t>
            </a:r>
            <a:endParaRPr lang="en-US" sz="14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D0F636C-B8EA-8014-1613-A483B89946A0}"/>
              </a:ext>
            </a:extLst>
          </p:cNvPr>
          <p:cNvSpPr/>
          <p:nvPr/>
        </p:nvSpPr>
        <p:spPr>
          <a:xfrm>
            <a:off x="1554480" y="2788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Problemi s lukovima</a:t>
            </a:r>
            <a:endParaRPr lang="en-US" sz="17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AD07B7C-BFC0-981C-9C66-CF004BF915ED}"/>
              </a:ext>
            </a:extLst>
          </p:cNvPr>
          <p:cNvSpPr/>
          <p:nvPr/>
        </p:nvSpPr>
        <p:spPr>
          <a:xfrm>
            <a:off x="155448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G2/G3 naredbe često nisu ispravno interpretirane. Rješenje: selektivna linearizacija.</a:t>
            </a:r>
            <a:endParaRPr lang="en-US" sz="14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4F501B7-436E-17DE-DE95-D511043B6B61}"/>
              </a:ext>
            </a:extLst>
          </p:cNvPr>
          <p:cNvSpPr/>
          <p:nvPr/>
        </p:nvSpPr>
        <p:spPr>
          <a:xfrm>
            <a:off x="155448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Nedostatak M4005 podrške</a:t>
            </a:r>
            <a:endParaRPr lang="en-US" sz="17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BA010B91-0B9F-3533-77C1-11F4A516F5E7}"/>
              </a:ext>
            </a:extLst>
          </p:cNvPr>
          <p:cNvSpPr/>
          <p:nvPr/>
        </p:nvSpPr>
        <p:spPr>
          <a:xfrm>
            <a:off x="1554480" y="4251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 ispravne tool description naredbe napredne funkcije MillenniumOS-a ne rade.</a:t>
            </a:r>
            <a:endParaRPr lang="en-US" sz="14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A323C301-B979-F801-156D-42FC0C4E3053}"/>
              </a:ext>
            </a:extLst>
          </p:cNvPr>
          <p:cNvSpPr/>
          <p:nvPr/>
        </p:nvSpPr>
        <p:spPr>
          <a:xfrm>
            <a:off x="1554480" y="4983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Radne koordinate i tool change</a:t>
            </a:r>
            <a:endParaRPr lang="en-US" sz="17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8A304E8E-CEF6-3412-AC45-26BD60D8097A}"/>
              </a:ext>
            </a:extLst>
          </p:cNvPr>
          <p:cNvSpPr/>
          <p:nvPr/>
        </p:nvSpPr>
        <p:spPr>
          <a:xfrm>
            <a:off x="155448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Različit redoslijed i format naredbi koje MillenniumOS očekuje.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36273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8F267E5-E626-8057-6060-E1187087B5CA}"/>
              </a:ext>
            </a:extLst>
          </p:cNvPr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kern="0" spc="3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RAZVOJ</a:t>
            </a: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4409E68-2E55-9869-1B09-55BB0E075194}"/>
              </a:ext>
            </a:extLst>
          </p:cNvPr>
          <p:cNvSpPr/>
          <p:nvPr/>
        </p:nvSpPr>
        <p:spPr>
          <a:xfrm>
            <a:off x="6202375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procesor kroz 7 verzija</a:t>
            </a:r>
            <a:endParaRPr lang="en-US" sz="11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BD1A024-6D01-4BC1-6493-23C6EC9172D0}"/>
              </a:ext>
            </a:extLst>
          </p:cNvPr>
          <p:cNvSpPr/>
          <p:nvPr/>
        </p:nvSpPr>
        <p:spPr>
          <a:xfrm>
            <a:off x="502920" y="731520"/>
            <a:ext cx="11185855" cy="0"/>
          </a:xfrm>
          <a:prstGeom prst="line">
            <a:avLst/>
          </a:prstGeom>
          <a:noFill/>
          <a:ln w="6350">
            <a:solidFill>
              <a:srgbClr val="C8C0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DCD17FF-8D35-CC19-A006-EA29615595CD}"/>
              </a:ext>
            </a:extLst>
          </p:cNvPr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Iterativni razvoj</a:t>
            </a:r>
            <a:endParaRPr lang="en-US" sz="2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2B0A489-5DE7-B9E7-BE54-B146153FB7CC}"/>
              </a:ext>
            </a:extLst>
          </p:cNvPr>
          <p:cNvSpPr/>
          <p:nvPr/>
        </p:nvSpPr>
        <p:spPr>
          <a:xfrm>
            <a:off x="3200400" y="1783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Osnovna kompatibilnost i shimovi za nepodržane API funkcije</a:t>
            </a:r>
            <a:endParaRPr lang="en-US" sz="17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BF4152F-4466-B4A1-E5D9-2E03922DBAE7}"/>
              </a:ext>
            </a:extLst>
          </p:cNvPr>
          <p:cNvSpPr/>
          <p:nvPr/>
        </p:nvSpPr>
        <p:spPr>
          <a:xfrm>
            <a:off x="3200400" y="2880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G2/G3 lukovi + implementacija M4005 (tool description)</a:t>
            </a:r>
            <a:endParaRPr lang="en-US" sz="17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7DCFBB93-3169-1D23-3A4A-3AD4BC51B64E}"/>
              </a:ext>
            </a:extLst>
          </p:cNvPr>
          <p:cNvSpPr/>
          <p:nvPr/>
        </p:nvSpPr>
        <p:spPr>
          <a:xfrm>
            <a:off x="3200400" y="3977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Radne koordinate, tool change i testiranje na stroju</a:t>
            </a:r>
            <a:endParaRPr lang="en-US" sz="17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D81EE1DA-5189-B30A-F745-170AF96E2CF3}"/>
              </a:ext>
            </a:extLst>
          </p:cNvPr>
          <p:cNvSpPr/>
          <p:nvPr/>
        </p:nvSpPr>
        <p:spPr>
          <a:xfrm>
            <a:off x="3200400" y="5074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Konačna stabilna verzija – pouzdan rad svih operacija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957786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72DDA1F-1460-5DA7-37DB-F9C9EAB291A3}"/>
              </a:ext>
            </a:extLst>
          </p:cNvPr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kern="0" spc="3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REZULTATI</a:t>
            </a: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8BDB1EA-73BD-0FAD-1894-B4EC1AFE9F56}"/>
              </a:ext>
            </a:extLst>
          </p:cNvPr>
          <p:cNvSpPr/>
          <p:nvPr/>
        </p:nvSpPr>
        <p:spPr>
          <a:xfrm>
            <a:off x="6202375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procesor</a:t>
            </a:r>
            <a:endParaRPr lang="en-US" sz="11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C0824388-6B54-9C7D-BF92-E90A4A6CB71D}"/>
              </a:ext>
            </a:extLst>
          </p:cNvPr>
          <p:cNvSpPr/>
          <p:nvPr/>
        </p:nvSpPr>
        <p:spPr>
          <a:xfrm>
            <a:off x="502920" y="731520"/>
            <a:ext cx="11185855" cy="0"/>
          </a:xfrm>
          <a:prstGeom prst="line">
            <a:avLst/>
          </a:prstGeom>
          <a:noFill/>
          <a:ln w="6350">
            <a:solidFill>
              <a:srgbClr val="C8C0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98A4177-CDF4-FFF6-34D4-CE0352D7AC14}"/>
              </a:ext>
            </a:extLst>
          </p:cNvPr>
          <p:cNvSpPr/>
          <p:nvPr/>
        </p:nvSpPr>
        <p:spPr>
          <a:xfrm>
            <a:off x="640080" y="1051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Što je postignuto</a:t>
            </a:r>
            <a:endParaRPr lang="en-US" sz="2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B33408F-DB8E-E56B-953A-CFB17B2098EE}"/>
              </a:ext>
            </a:extLst>
          </p:cNvPr>
          <p:cNvSpPr/>
          <p:nvPr/>
        </p:nvSpPr>
        <p:spPr>
          <a:xfrm>
            <a:off x="1280160" y="1691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Pouzdano generiranje G-koda iz HSMWorks Ultimate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F4FEAFC-C84E-0B44-4771-295CD6D5F4A9}"/>
              </a:ext>
            </a:extLst>
          </p:cNvPr>
          <p:cNvSpPr/>
          <p:nvPr/>
        </p:nvSpPr>
        <p:spPr>
          <a:xfrm>
            <a:off x="1280160" y="2423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Ispravna podrška za M4005 i tool length compensation</a:t>
            </a:r>
            <a:endParaRPr lang="en-US" sz="18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0BC5077B-A486-4CEC-E959-00EE952D0AEB}"/>
              </a:ext>
            </a:extLst>
          </p:cNvPr>
          <p:cNvSpPr/>
          <p:nvPr/>
        </p:nvSpPr>
        <p:spPr>
          <a:xfrm>
            <a:off x="1280160" y="3154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Stabilan rad s 2D i 3D glodanjem, bušenjem i probingom</a:t>
            </a:r>
            <a:endParaRPr lang="en-US" sz="18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DC39BD66-5ACB-6010-8752-D73FB75F0FC4}"/>
              </a:ext>
            </a:extLst>
          </p:cNvPr>
          <p:cNvSpPr/>
          <p:nvPr/>
        </p:nvSpPr>
        <p:spPr>
          <a:xfrm>
            <a:off x="1280160" y="3886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Ispravno upravljanje radnim koordinatama (G54–G59)</a:t>
            </a:r>
            <a:endParaRPr lang="en-US" sz="1800" dirty="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A9E1D43A-F720-E2DD-8A00-23C1AEE994CC}"/>
              </a:ext>
            </a:extLst>
          </p:cNvPr>
          <p:cNvSpPr/>
          <p:nvPr/>
        </p:nvSpPr>
        <p:spPr>
          <a:xfrm>
            <a:off x="1280160" y="4617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Testirano na stvarnom stroju Milo v1.5</a:t>
            </a:r>
            <a:endParaRPr lang="en-US" sz="18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98C2372C-E802-0B60-C28C-0397011B90E6}"/>
              </a:ext>
            </a:extLst>
          </p:cNvPr>
          <p:cNvSpPr/>
          <p:nvPr/>
        </p:nvSpPr>
        <p:spPr>
          <a:xfrm>
            <a:off x="1280160" y="5349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Stabilnost tijekom višesatnog rada i više restartova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13308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1C85404-785E-151F-9FA1-D1196833DAA0}"/>
              </a:ext>
            </a:extLst>
          </p:cNvPr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kern="0" spc="3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 PROBLEM</a:t>
            </a: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3437662-9E0D-C18D-4207-956778F98334}"/>
              </a:ext>
            </a:extLst>
          </p:cNvPr>
          <p:cNvSpPr/>
          <p:nvPr/>
        </p:nvSpPr>
        <p:spPr>
          <a:xfrm>
            <a:off x="6202375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Probing sučelje</a:t>
            </a:r>
            <a:endParaRPr lang="en-US" sz="11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1A21809-B41E-E197-E92F-350F30A29725}"/>
              </a:ext>
            </a:extLst>
          </p:cNvPr>
          <p:cNvSpPr/>
          <p:nvPr/>
        </p:nvSpPr>
        <p:spPr>
          <a:xfrm>
            <a:off x="502920" y="731520"/>
            <a:ext cx="11185855" cy="0"/>
          </a:xfrm>
          <a:prstGeom prst="line">
            <a:avLst/>
          </a:prstGeom>
          <a:noFill/>
          <a:ln w="6350">
            <a:solidFill>
              <a:srgbClr val="C8C0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B05011C-B005-3134-35FB-63768C1A55B0}"/>
              </a:ext>
            </a:extLst>
          </p:cNvPr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Zašto je sučelje trebalo prilagoditi</a:t>
            </a:r>
            <a:endParaRPr lang="en-US" sz="2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687DBC0-86AB-6168-B708-3B037D01B7DB}"/>
              </a:ext>
            </a:extLst>
          </p:cNvPr>
          <p:cNvSpPr/>
          <p:nvPr/>
        </p:nvSpPr>
        <p:spPr>
          <a:xfrm>
            <a:off x="914400" y="2011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Ikone</a:t>
            </a:r>
            <a:endParaRPr lang="en-US" sz="2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340E081-916F-5F8A-3FE6-309420AE9C38}"/>
              </a:ext>
            </a:extLst>
          </p:cNvPr>
          <p:cNvSpPr/>
          <p:nvPr/>
        </p:nvSpPr>
        <p:spPr>
          <a:xfrm>
            <a:off x="914400" y="265176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Originalne Material Design ikone su generičke. Bore i Boss izgledaju slično. Korisnik bez iskustva teško prepoznaje o kojoj se operaciji radi. Povećava se rizik od pogrešnog odabira i gubitka vremena.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842669A-F8F3-D988-BD6A-4F21D36A51E0}"/>
              </a:ext>
            </a:extLst>
          </p:cNvPr>
          <p:cNvSpPr/>
          <p:nvPr/>
        </p:nvSpPr>
        <p:spPr>
          <a:xfrm>
            <a:off x="6492240" y="2011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Unos brojeva</a:t>
            </a:r>
            <a:endParaRPr lang="en-US" sz="2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D500FBB-AC64-FD31-29AC-68957E3D3DEF}"/>
              </a:ext>
            </a:extLst>
          </p:cNvPr>
          <p:cNvSpPr/>
          <p:nvPr/>
        </p:nvSpPr>
        <p:spPr>
          <a:xfrm>
            <a:off x="6492240" y="265176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 touch screen tabletima polja za unos nisu se pravilno skalirala. Kod vrijednosti s tri ili više znamenki vidjele su se samo prve dvije. To je otežavalo precizan unos parametara.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17341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9FA1D26-6882-B037-A796-0D20F34FF231}"/>
              </a:ext>
            </a:extLst>
          </p:cNvPr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kern="0" spc="3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 PRILAGODBA</a:t>
            </a: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866C245-9728-8BD1-39FB-1119795D8E6E}"/>
              </a:ext>
            </a:extLst>
          </p:cNvPr>
          <p:cNvSpPr/>
          <p:nvPr/>
        </p:nvSpPr>
        <p:spPr>
          <a:xfrm>
            <a:off x="6202375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MillenniumOS DWC plugin</a:t>
            </a:r>
            <a:endParaRPr lang="en-US" sz="11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93E2235-89A8-F3F0-0DD4-D39CADF74E9E}"/>
              </a:ext>
            </a:extLst>
          </p:cNvPr>
          <p:cNvSpPr/>
          <p:nvPr/>
        </p:nvSpPr>
        <p:spPr>
          <a:xfrm>
            <a:off x="502920" y="731520"/>
            <a:ext cx="11185855" cy="0"/>
          </a:xfrm>
          <a:prstGeom prst="line">
            <a:avLst/>
          </a:prstGeom>
          <a:noFill/>
          <a:ln w="6350">
            <a:solidFill>
              <a:srgbClr val="C8C0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258546A-B1BE-26AE-12D6-9EBE794721C8}"/>
              </a:ext>
            </a:extLst>
          </p:cNvPr>
          <p:cNvSpPr/>
          <p:nvPr/>
        </p:nvSpPr>
        <p:spPr>
          <a:xfrm>
            <a:off x="640080" y="1051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Što je napravljeno</a:t>
            </a:r>
            <a:endParaRPr lang="en-US" sz="2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9D2DF22-F882-CBED-B878-2060D59FBAE4}"/>
              </a:ext>
            </a:extLst>
          </p:cNvPr>
          <p:cNvSpPr/>
          <p:nvPr/>
        </p:nvSpPr>
        <p:spPr>
          <a:xfrm>
            <a:off x="1737360" y="16002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Analiza koda</a:t>
            </a:r>
            <a:endParaRPr lang="en-US" sz="17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AF258D1-B1CC-C357-F098-E92B59F719A2}"/>
              </a:ext>
            </a:extLst>
          </p:cNvPr>
          <p:cNvSpPr/>
          <p:nvPr/>
        </p:nvSpPr>
        <p:spPr>
          <a:xfrm>
            <a:off x="5120640" y="16002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Lociranje relevantnih datoteka u repozitoriju (Probe.ts, ProbeSelectorPanel.vue)</a:t>
            </a:r>
            <a:endParaRPr lang="en-US" sz="15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E4212C7-804C-31B7-97F4-B80B6ECBF7F2}"/>
              </a:ext>
            </a:extLst>
          </p:cNvPr>
          <p:cNvSpPr/>
          <p:nvPr/>
        </p:nvSpPr>
        <p:spPr>
          <a:xfrm>
            <a:off x="1737360" y="24688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Izmjena tipova</a:t>
            </a:r>
            <a:endParaRPr lang="en-US" sz="17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1B7F14D-DAD0-DF29-C7D0-0BC922CA3269}"/>
              </a:ext>
            </a:extLst>
          </p:cNvPr>
          <p:cNvSpPr/>
          <p:nvPr/>
        </p:nvSpPr>
        <p:spPr>
          <a:xfrm>
            <a:off x="5120640" y="24688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 types/Probe.ts vrijednost icon mijenja se u naziv custom slike</a:t>
            </a:r>
            <a:endParaRPr lang="en-US" sz="15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266A1983-096D-0C18-6519-76F97CA7E058}"/>
              </a:ext>
            </a:extLst>
          </p:cNvPr>
          <p:cNvSpPr/>
          <p:nvPr/>
        </p:nvSpPr>
        <p:spPr>
          <a:xfrm>
            <a:off x="1737360" y="3337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Uvjetna logika</a:t>
            </a:r>
            <a:endParaRPr lang="en-US" sz="17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79757057-7332-EF7E-79E4-09A9B61D9F34}"/>
              </a:ext>
            </a:extLst>
          </p:cNvPr>
          <p:cNvSpPr/>
          <p:nvPr/>
        </p:nvSpPr>
        <p:spPr>
          <a:xfrm>
            <a:off x="5120640" y="33375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 ProbeSelectorPanel.vue dodana provjera: mdi- ikona ili custom slika</a:t>
            </a:r>
            <a:endParaRPr lang="en-US" sz="15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55AE49D-23D3-D321-F7EE-E7188D70CA5F}"/>
              </a:ext>
            </a:extLst>
          </p:cNvPr>
          <p:cNvSpPr/>
          <p:nvPr/>
        </p:nvSpPr>
        <p:spPr>
          <a:xfrm>
            <a:off x="1737360" y="42062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i deploy</a:t>
            </a:r>
            <a:endParaRPr lang="en-US" sz="17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AC7EAD73-5357-3F28-F1FA-6C3DA18C6B4B}"/>
              </a:ext>
            </a:extLst>
          </p:cNvPr>
          <p:cNvSpPr/>
          <p:nvPr/>
        </p:nvSpPr>
        <p:spPr>
          <a:xfrm>
            <a:off x="5120640" y="42062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Kompletan build DWC projekta i pravilno postavljanje datoteka na SD karticu</a:t>
            </a:r>
            <a:endParaRPr lang="en-US" sz="15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8942C209-DD3F-44FB-B090-719A7DA839B4}"/>
              </a:ext>
            </a:extLst>
          </p:cNvPr>
          <p:cNvSpPr/>
          <p:nvPr/>
        </p:nvSpPr>
        <p:spPr>
          <a:xfrm>
            <a:off x="1737360" y="50749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Testiranje</a:t>
            </a:r>
            <a:endParaRPr lang="en-US" sz="170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61684AEE-720B-9386-D7CB-8FEBA26E3B0A}"/>
              </a:ext>
            </a:extLst>
          </p:cNvPr>
          <p:cNvSpPr/>
          <p:nvPr/>
        </p:nvSpPr>
        <p:spPr>
          <a:xfrm>
            <a:off x="5120640" y="50749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Provjera na razvojnom serveru i na stvarnom stroju nakon više restartova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234328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E5DC4C86-C2EB-A61B-2EC2-61226A27D2C9}"/>
              </a:ext>
            </a:extLst>
          </p:cNvPr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kern="0" spc="3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 REZULTATI</a:t>
            </a: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CEEB1B6-713A-ECA5-20FC-CD2139F5450A}"/>
              </a:ext>
            </a:extLst>
          </p:cNvPr>
          <p:cNvSpPr/>
          <p:nvPr/>
        </p:nvSpPr>
        <p:spPr>
          <a:xfrm>
            <a:off x="6202375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Prilagodba sučelja</a:t>
            </a:r>
            <a:endParaRPr lang="en-US" sz="11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C355FBE3-95F3-F929-8AD2-421EC31E894A}"/>
              </a:ext>
            </a:extLst>
          </p:cNvPr>
          <p:cNvSpPr/>
          <p:nvPr/>
        </p:nvSpPr>
        <p:spPr>
          <a:xfrm>
            <a:off x="502920" y="731520"/>
            <a:ext cx="11185855" cy="0"/>
          </a:xfrm>
          <a:prstGeom prst="line">
            <a:avLst/>
          </a:prstGeom>
          <a:noFill/>
          <a:ln w="6350">
            <a:solidFill>
              <a:srgbClr val="C8C0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C816B5E-0916-0026-2FEA-D446ABA88F3A}"/>
              </a:ext>
            </a:extLst>
          </p:cNvPr>
          <p:cNvSpPr/>
          <p:nvPr/>
        </p:nvSpPr>
        <p:spPr>
          <a:xfrm>
            <a:off x="640080" y="1051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Što je postignuto</a:t>
            </a:r>
            <a:endParaRPr lang="en-US" sz="2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E91F691-3DDF-EA91-478E-FC15D528F1A2}"/>
              </a:ext>
            </a:extLst>
          </p:cNvPr>
          <p:cNvSpPr/>
          <p:nvPr/>
        </p:nvSpPr>
        <p:spPr>
          <a:xfrm>
            <a:off x="868680" y="2057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Bolja prepoznatljivost</a:t>
            </a:r>
            <a:endParaRPr lang="en-US" sz="17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7D1F0E8-454F-C302-0A87-B063F1A759CF}"/>
              </a:ext>
            </a:extLst>
          </p:cNvPr>
          <p:cNvSpPr/>
          <p:nvPr/>
        </p:nvSpPr>
        <p:spPr>
          <a:xfrm>
            <a:off x="868680" y="26517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slike jasno prikazuju geometriju svake probing operacije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CDD6A3C-A848-8054-978C-F8EF709C594F}"/>
              </a:ext>
            </a:extLst>
          </p:cNvPr>
          <p:cNvSpPr/>
          <p:nvPr/>
        </p:nvSpPr>
        <p:spPr>
          <a:xfrm>
            <a:off x="4663440" y="2057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Manje grešaka</a:t>
            </a:r>
            <a:endParaRPr lang="en-US" sz="17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0D83C7E-ED4D-F44D-FF4E-320401CCD186}"/>
              </a:ext>
            </a:extLst>
          </p:cNvPr>
          <p:cNvSpPr/>
          <p:nvPr/>
        </p:nvSpPr>
        <p:spPr>
          <a:xfrm>
            <a:off x="4663440" y="26517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Smanjen rizik od pogrešnog odabira ciklusa mjerenja</a:t>
            </a:r>
            <a:endParaRPr lang="en-US" sz="14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D540CEB1-9C3E-857F-55D4-F5AD68B76533}"/>
              </a:ext>
            </a:extLst>
          </p:cNvPr>
          <p:cNvSpPr/>
          <p:nvPr/>
        </p:nvSpPr>
        <p:spPr>
          <a:xfrm>
            <a:off x="8458200" y="2057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Touch screen</a:t>
            </a:r>
            <a:endParaRPr lang="en-US" sz="17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62FF7184-29AF-E0AB-2951-84844D557D7F}"/>
              </a:ext>
            </a:extLst>
          </p:cNvPr>
          <p:cNvSpPr/>
          <p:nvPr/>
        </p:nvSpPr>
        <p:spPr>
          <a:xfrm>
            <a:off x="8458200" y="26517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Veće i jasnije slike, bolji rad na tabletima</a:t>
            </a:r>
            <a:endParaRPr lang="en-US" sz="1400" dirty="0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A9B7417F-D195-5853-FF6A-2B1B20B77F30}"/>
              </a:ext>
            </a:extLst>
          </p:cNvPr>
          <p:cNvSpPr/>
          <p:nvPr/>
        </p:nvSpPr>
        <p:spPr>
          <a:xfrm>
            <a:off x="868680" y="4251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Fleksibilnost</a:t>
            </a:r>
            <a:endParaRPr lang="en-US" sz="17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EB0B89A7-DBE7-2620-7928-6BAFE760EC25}"/>
              </a:ext>
            </a:extLst>
          </p:cNvPr>
          <p:cNvSpPr/>
          <p:nvPr/>
        </p:nvSpPr>
        <p:spPr>
          <a:xfrm>
            <a:off x="868680" y="4846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Sustav omogućuje jednostavno dodavanje novih custom slika</a:t>
            </a:r>
            <a:endParaRPr lang="en-US" sz="1400" dirty="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00CA7A6C-37B3-9BF3-A8A2-4C1992B9956B}"/>
              </a:ext>
            </a:extLst>
          </p:cNvPr>
          <p:cNvSpPr/>
          <p:nvPr/>
        </p:nvSpPr>
        <p:spPr>
          <a:xfrm>
            <a:off x="4663440" y="4251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Stabilnost</a:t>
            </a:r>
            <a:endParaRPr lang="en-US" sz="1700" dirty="0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541AD4E0-DC31-14EE-68F4-BC753E710281}"/>
              </a:ext>
            </a:extLst>
          </p:cNvPr>
          <p:cNvSpPr/>
          <p:nvPr/>
        </p:nvSpPr>
        <p:spPr>
          <a:xfrm>
            <a:off x="4663440" y="4846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Plugin radi pouzdano nakon više restartova stroja i preglednika</a:t>
            </a:r>
            <a:endParaRPr lang="en-US" sz="1400" dirty="0"/>
          </a:p>
        </p:txBody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D9E70419-AACC-28F9-312C-7B0B25EB0265}"/>
              </a:ext>
            </a:extLst>
          </p:cNvPr>
          <p:cNvSpPr/>
          <p:nvPr/>
        </p:nvSpPr>
        <p:spPr>
          <a:xfrm>
            <a:off x="8458200" y="4251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Kompatibilnost</a:t>
            </a:r>
            <a:endParaRPr lang="en-US" sz="1700" dirty="0"/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C76606E8-F126-CBEC-05AD-6776DAFE56ED}"/>
              </a:ext>
            </a:extLst>
          </p:cNvPr>
          <p:cNvSpPr/>
          <p:nvPr/>
        </p:nvSpPr>
        <p:spPr>
          <a:xfrm>
            <a:off x="8458200" y="4846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Zadržana podrška za sve postojeće Material Design ikone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48377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24EFAEC-6B16-58C1-9CD5-48BAC3C5F7D8}"/>
              </a:ext>
            </a:extLst>
          </p:cNvPr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kern="0" spc="3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 USPOREDBA</a:t>
            </a: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8FEA24F-CA9B-1CAC-B511-D7C94B201B44}"/>
              </a:ext>
            </a:extLst>
          </p:cNvPr>
          <p:cNvSpPr/>
          <p:nvPr/>
        </p:nvSpPr>
        <p:spPr>
          <a:xfrm>
            <a:off x="6202375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Prije i poslije</a:t>
            </a:r>
            <a:endParaRPr lang="en-US" sz="11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4C7EEC62-1E86-19CB-DBD9-0D38590129BF}"/>
              </a:ext>
            </a:extLst>
          </p:cNvPr>
          <p:cNvSpPr/>
          <p:nvPr/>
        </p:nvSpPr>
        <p:spPr>
          <a:xfrm>
            <a:off x="502920" y="731520"/>
            <a:ext cx="11185855" cy="0"/>
          </a:xfrm>
          <a:prstGeom prst="line">
            <a:avLst/>
          </a:prstGeom>
          <a:noFill/>
          <a:ln w="6350">
            <a:solidFill>
              <a:srgbClr val="C8C0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AF914ED-DD4E-9AEE-C8DF-B6275DFF2CFD}"/>
              </a:ext>
            </a:extLst>
          </p:cNvPr>
          <p:cNvSpPr/>
          <p:nvPr/>
        </p:nvSpPr>
        <p:spPr>
          <a:xfrm>
            <a:off x="91440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kern="0" spc="300" dirty="0">
                <a:solidFill>
                  <a:srgbClr val="B84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PRIJE</a:t>
            </a:r>
            <a:endParaRPr lang="en-US" sz="1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22B2219-2F8A-E838-FD5E-6DD99DDB0BB2}"/>
              </a:ext>
            </a:extLst>
          </p:cNvPr>
          <p:cNvSpPr/>
          <p:nvPr/>
        </p:nvSpPr>
        <p:spPr>
          <a:xfrm>
            <a:off x="91440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Postojeće stanje</a:t>
            </a:r>
            <a:endParaRPr lang="en-US" sz="2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5BC6D26-FFEA-8FB8-1A32-56EC06633F6F}"/>
              </a:ext>
            </a:extLst>
          </p:cNvPr>
          <p:cNvSpPr/>
          <p:nvPr/>
        </p:nvSpPr>
        <p:spPr>
          <a:xfrm>
            <a:off x="914400" y="2560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–  Samo Fusion 360 post procesor</a:t>
            </a:r>
            <a:endParaRPr lang="en-US" sz="1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EDDA194-A571-4F79-1B40-1680D1F45CF6}"/>
              </a:ext>
            </a:extLst>
          </p:cNvPr>
          <p:cNvSpPr/>
          <p:nvPr/>
        </p:nvSpPr>
        <p:spPr>
          <a:xfrm>
            <a:off x="914400" y="3108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–  Greške u HSMWorks Ultimate</a:t>
            </a:r>
            <a:endParaRPr lang="en-US" sz="16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8126CD9-E01D-0577-517F-D55A9E8350FE}"/>
              </a:ext>
            </a:extLst>
          </p:cNvPr>
          <p:cNvSpPr/>
          <p:nvPr/>
        </p:nvSpPr>
        <p:spPr>
          <a:xfrm>
            <a:off x="914400" y="3657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–  Generičke Material Design ikone</a:t>
            </a:r>
            <a:endParaRPr lang="en-US" sz="16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6BFE077-A243-0265-8E07-BE090A4A771C}"/>
              </a:ext>
            </a:extLst>
          </p:cNvPr>
          <p:cNvSpPr/>
          <p:nvPr/>
        </p:nvSpPr>
        <p:spPr>
          <a:xfrm>
            <a:off x="91440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–  Nejasna vizualna reprezentacija</a:t>
            </a:r>
            <a:endParaRPr lang="en-US" sz="16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7B70C51-5791-803F-BC50-C6CF73B56847}"/>
              </a:ext>
            </a:extLst>
          </p:cNvPr>
          <p:cNvSpPr/>
          <p:nvPr/>
        </p:nvSpPr>
        <p:spPr>
          <a:xfrm>
            <a:off x="914400" y="4754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–  Problemi s unosom na tabletu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883AB08-0943-A7C2-0280-7171F07C4440}"/>
              </a:ext>
            </a:extLst>
          </p:cNvPr>
          <p:cNvSpPr/>
          <p:nvPr/>
        </p:nvSpPr>
        <p:spPr>
          <a:xfrm>
            <a:off x="649224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kern="0" spc="300" dirty="0">
                <a:solidFill>
                  <a:srgbClr val="B84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POSLIJE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7461F31-42F5-1BE7-DE30-6022712B7392}"/>
              </a:ext>
            </a:extLst>
          </p:cNvPr>
          <p:cNvSpPr/>
          <p:nvPr/>
        </p:nvSpPr>
        <p:spPr>
          <a:xfrm>
            <a:off x="649224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Novo stanje</a:t>
            </a:r>
            <a:endParaRPr lang="en-US" sz="2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0EE46E4-F671-F638-2D75-9F1B4CEAAC4A}"/>
              </a:ext>
            </a:extLst>
          </p:cNvPr>
          <p:cNvSpPr/>
          <p:nvPr/>
        </p:nvSpPr>
        <p:spPr>
          <a:xfrm>
            <a:off x="6492240" y="2560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–  Stabilan post procesor za HSMWorks</a:t>
            </a: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A36BB8E-0CD3-C06E-2078-B3886B165183}"/>
              </a:ext>
            </a:extLst>
          </p:cNvPr>
          <p:cNvSpPr/>
          <p:nvPr/>
        </p:nvSpPr>
        <p:spPr>
          <a:xfrm>
            <a:off x="6492240" y="3108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–  Puna podrška za MillenniumOS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C36D29E-3087-5106-202A-17E159259C02}"/>
              </a:ext>
            </a:extLst>
          </p:cNvPr>
          <p:cNvSpPr/>
          <p:nvPr/>
        </p:nvSpPr>
        <p:spPr>
          <a:xfrm>
            <a:off x="6492240" y="3657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–  Custom slike na probing karticama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C025797-E808-5BA6-199D-D671B85126A6}"/>
              </a:ext>
            </a:extLst>
          </p:cNvPr>
          <p:cNvSpPr/>
          <p:nvPr/>
        </p:nvSpPr>
        <p:spPr>
          <a:xfrm>
            <a:off x="649224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–  Jasna prepoznatljivost operacija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2DF5439-8A86-C451-32F1-635CB625F0BE}"/>
              </a:ext>
            </a:extLst>
          </p:cNvPr>
          <p:cNvSpPr/>
          <p:nvPr/>
        </p:nvSpPr>
        <p:spPr>
          <a:xfrm>
            <a:off x="6492240" y="4754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–  Bolji rad na touch screen uređajima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62694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AE4071D-D395-4ADA-D12A-A14B0CB04383}"/>
              </a:ext>
            </a:extLst>
          </p:cNvPr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kern="0" spc="3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 DOPRINOS</a:t>
            </a: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487D47C-3185-FB04-7401-37BFBF70954E}"/>
              </a:ext>
            </a:extLst>
          </p:cNvPr>
          <p:cNvSpPr/>
          <p:nvPr/>
        </p:nvSpPr>
        <p:spPr>
          <a:xfrm>
            <a:off x="6202375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source i zajednica</a:t>
            </a:r>
            <a:endParaRPr lang="en-US" sz="11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71E12AF2-5A59-C849-DA61-855F63A58500}"/>
              </a:ext>
            </a:extLst>
          </p:cNvPr>
          <p:cNvSpPr/>
          <p:nvPr/>
        </p:nvSpPr>
        <p:spPr>
          <a:xfrm>
            <a:off x="502920" y="731520"/>
            <a:ext cx="11185855" cy="0"/>
          </a:xfrm>
          <a:prstGeom prst="line">
            <a:avLst/>
          </a:prstGeom>
          <a:noFill/>
          <a:ln w="6350">
            <a:solidFill>
              <a:srgbClr val="C8C0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4979066-7877-DA4F-7A59-12296126A24C}"/>
              </a:ext>
            </a:extLst>
          </p:cNvPr>
          <p:cNvSpPr/>
          <p:nvPr/>
        </p:nvSpPr>
        <p:spPr>
          <a:xfrm>
            <a:off x="640080" y="1051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Širi utjecaj rada</a:t>
            </a:r>
            <a:endParaRPr lang="en-US" sz="2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D1CF43D-7162-F1B9-C08C-A497BF6B9E77}"/>
              </a:ext>
            </a:extLst>
          </p:cNvPr>
          <p:cNvSpPr/>
          <p:nvPr/>
        </p:nvSpPr>
        <p:spPr>
          <a:xfrm>
            <a:off x="105156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Tehnički</a:t>
            </a:r>
            <a:endParaRPr lang="en-US" sz="17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8950CFE-C66D-008E-3581-0C4081058B95}"/>
              </a:ext>
            </a:extLst>
          </p:cNvPr>
          <p:cNvSpPr/>
          <p:nvPr/>
        </p:nvSpPr>
        <p:spPr>
          <a:xfrm>
            <a:off x="1051560" y="2194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Dva funkcionalna rješenja spremna za korištenje u stvarnim uvjetima</a:t>
            </a:r>
            <a:endParaRPr lang="en-US" sz="15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E21454DE-378E-A807-F876-D41F0C91D170}"/>
              </a:ext>
            </a:extLst>
          </p:cNvPr>
          <p:cNvSpPr/>
          <p:nvPr/>
        </p:nvSpPr>
        <p:spPr>
          <a:xfrm>
            <a:off x="1051560" y="2926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Praktični</a:t>
            </a:r>
            <a:endParaRPr lang="en-US" sz="17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BCF4F6B2-905D-9ED4-7335-F06CEA697528}"/>
              </a:ext>
            </a:extLst>
          </p:cNvPr>
          <p:cNvSpPr/>
          <p:nvPr/>
        </p:nvSpPr>
        <p:spPr>
          <a:xfrm>
            <a:off x="1051560" y="3291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Korisnici HSMWorks sada mogu raditi s MillenniumOS-om bez ograničenja</a:t>
            </a:r>
            <a:endParaRPr lang="en-US" sz="1500" dirty="0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C26DEA04-53C1-3BE2-BA41-E5872D3B87C7}"/>
              </a:ext>
            </a:extLst>
          </p:cNvPr>
          <p:cNvSpPr/>
          <p:nvPr/>
        </p:nvSpPr>
        <p:spPr>
          <a:xfrm>
            <a:off x="1051560" y="4023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Obrazovni</a:t>
            </a:r>
            <a:endParaRPr lang="en-US" sz="17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610DC2ED-26DA-2AD1-43F8-730588D13427}"/>
              </a:ext>
            </a:extLst>
          </p:cNvPr>
          <p:cNvSpPr/>
          <p:nvPr/>
        </p:nvSpPr>
        <p:spPr>
          <a:xfrm>
            <a:off x="1051560" y="4389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Primjer kako se open source može koristiti u diplomskom radu</a:t>
            </a:r>
            <a:endParaRPr lang="en-US" sz="1500" dirty="0"/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AE0949AA-4BD9-762D-8D25-6DFE5095B42C}"/>
              </a:ext>
            </a:extLst>
          </p:cNvPr>
          <p:cNvSpPr/>
          <p:nvPr/>
        </p:nvSpPr>
        <p:spPr>
          <a:xfrm>
            <a:off x="1051560" y="5120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Zajednica</a:t>
            </a:r>
            <a:endParaRPr lang="en-US" sz="1700" dirty="0"/>
          </a:p>
        </p:txBody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91A75D26-A571-CDA8-6ACC-B56B2E4042F0}"/>
              </a:ext>
            </a:extLst>
          </p:cNvPr>
          <p:cNvSpPr/>
          <p:nvPr/>
        </p:nvSpPr>
        <p:spPr>
          <a:xfrm>
            <a:off x="1051560" y="5486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Kod je otvoren – drugi mogu prilagođavati i proširivati rješenja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917816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942C6E0-FD4F-45CB-4891-7B2030A67008}"/>
              </a:ext>
            </a:extLst>
          </p:cNvPr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kern="0" spc="3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 ZAKLJUČAK</a:t>
            </a: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7E4A5BF-E006-A851-EB9D-B2EAE2EB6655}"/>
              </a:ext>
            </a:extLst>
          </p:cNvPr>
          <p:cNvSpPr/>
          <p:nvPr/>
        </p:nvSpPr>
        <p:spPr>
          <a:xfrm>
            <a:off x="6202375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8A85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Što je ostvareno</a:t>
            </a:r>
            <a:endParaRPr lang="en-US" sz="11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67D8808-8A83-2284-5DFC-B9267EB19DCB}"/>
              </a:ext>
            </a:extLst>
          </p:cNvPr>
          <p:cNvSpPr/>
          <p:nvPr/>
        </p:nvSpPr>
        <p:spPr>
          <a:xfrm>
            <a:off x="502920" y="731520"/>
            <a:ext cx="11185855" cy="0"/>
          </a:xfrm>
          <a:prstGeom prst="line">
            <a:avLst/>
          </a:prstGeom>
          <a:noFill/>
          <a:ln w="6350">
            <a:solidFill>
              <a:srgbClr val="C8C0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C5F4880-7E21-BE2E-CE9F-9849CA174A52}"/>
              </a:ext>
            </a:extLst>
          </p:cNvPr>
          <p:cNvSpPr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 je uspješno riješio postavljeni dvostruki cilj.</a:t>
            </a:r>
            <a:endParaRPr lang="en-US" sz="2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2DD356C-8311-B38E-D6A2-7793352B8A0E}"/>
              </a:ext>
            </a:extLst>
          </p:cNvPr>
          <p:cNvSpPr/>
          <p:nvPr/>
        </p:nvSpPr>
        <p:spPr>
          <a:xfrm>
            <a:off x="6400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B84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1ABB6DD-C2D7-8B5E-1029-1AF03E7B438F}"/>
              </a:ext>
            </a:extLst>
          </p:cNvPr>
          <p:cNvSpPr/>
          <p:nvPr/>
        </p:nvSpPr>
        <p:spPr>
          <a:xfrm>
            <a:off x="1371600" y="1828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Razvijen je stabilan custom post procesor za HSMWorks Ultimate</a:t>
            </a:r>
            <a:endParaRPr lang="en-US" sz="18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2B782CA-12EB-1170-E5CA-393B461E0647}"/>
              </a:ext>
            </a:extLst>
          </p:cNvPr>
          <p:cNvSpPr/>
          <p:nvPr/>
        </p:nvSpPr>
        <p:spPr>
          <a:xfrm>
            <a:off x="64008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B84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77FFF62-8CF3-5852-8DB1-4206B3D3CE8D}"/>
              </a:ext>
            </a:extLst>
          </p:cNvPr>
          <p:cNvSpPr/>
          <p:nvPr/>
        </p:nvSpPr>
        <p:spPr>
          <a:xfrm>
            <a:off x="1371600" y="2606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Prilagođen je MillenniumOS DWC plugin s podrškom za custom slike</a:t>
            </a:r>
            <a:endParaRPr lang="en-US" sz="18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311BBC2-8A7E-B78D-05CC-CFB9AD56C695}"/>
              </a:ext>
            </a:extLst>
          </p:cNvPr>
          <p:cNvSpPr/>
          <p:nvPr/>
        </p:nvSpPr>
        <p:spPr>
          <a:xfrm>
            <a:off x="64008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B84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55691E0-A22A-686D-A503-96E2FD51B872}"/>
              </a:ext>
            </a:extLst>
          </p:cNvPr>
          <p:cNvSpPr/>
          <p:nvPr/>
        </p:nvSpPr>
        <p:spPr>
          <a:xfrm>
            <a:off x="137160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Oba rješenja testirana su na stvarnom stroju i rade pouzdano</a:t>
            </a:r>
            <a:endParaRPr lang="en-US" sz="18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6229B1BF-6175-5E5C-409E-A436FA44FE58}"/>
              </a:ext>
            </a:extLst>
          </p:cNvPr>
          <p:cNvSpPr/>
          <p:nvPr/>
        </p:nvSpPr>
        <p:spPr>
          <a:xfrm>
            <a:off x="64008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B84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83CB290-8E71-186C-41C7-F127146619E0}"/>
              </a:ext>
            </a:extLst>
          </p:cNvPr>
          <p:cNvSpPr/>
          <p:nvPr/>
        </p:nvSpPr>
        <p:spPr>
          <a:xfrm>
            <a:off x="1371600" y="4160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Kod je objavljen kao open source za širu zajednicu</a:t>
            </a:r>
            <a:endParaRPr lang="en-US" sz="18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21ED7824-F51D-3A80-B1FA-BBD48A688E09}"/>
              </a:ext>
            </a:extLst>
          </p:cNvPr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Hvala na pažnji.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8416901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DashVTI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57</cp:revision>
  <dcterms:created xsi:type="dcterms:W3CDTF">2026-07-21T16:49:44Z</dcterms:created>
  <dcterms:modified xsi:type="dcterms:W3CDTF">2026-07-21T17:00:23Z</dcterms:modified>
</cp:coreProperties>
</file>